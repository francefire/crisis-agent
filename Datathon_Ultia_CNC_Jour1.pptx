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0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BBFA0"/>
                </a:solidFill>
                <a:latin typeface="Arial"/>
              </a:rPr>
              <a:t>DATATHON · 2 JOURS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194560"/>
            <a:ext cx="9966960" cy="1554480"/>
          </a:xfrm>
          <a:prstGeom prst="roundRect">
            <a:avLst/>
          </a:prstGeom>
          <a:solidFill>
            <a:srgbClr val="5B2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94560"/>
            <a:ext cx="96012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Affaire Ultia × CNC : anatomie d'un déferlement viral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Un fait réel, transformé en tempête sur X en 4 jours.</a:t>
            </a:r>
          </a:p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2BBFA0"/>
                </a:solidFill>
                <a:latin typeface="Arial"/>
              </a:rPr>
              <a:t>Fait  →  Narratif  →  Dynamique : nous analysons la dynamique.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35 396 messages · 10 437 comptes · 2026-03-19 → 2026-05-01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B2BE0"/>
                </a:solidFill>
                <a:latin typeface="Arial"/>
              </a:rPr>
              <a:t>PROPAGATION —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105C"/>
                </a:solidFill>
                <a:latin typeface="Arial"/>
              </a:rPr>
              <a:t>Une déflagration de 4 jours, portée par le retweet</a:t>
            </a:r>
          </a:p>
        </p:txBody>
      </p:sp>
      <p:pic>
        <p:nvPicPr>
          <p:cNvPr id="4" name="Picture 3" descr="01_timeline_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14600"/>
            <a:ext cx="7680960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12480" y="1645920"/>
            <a:ext cx="3291840" cy="1371600"/>
          </a:xfrm>
          <a:prstGeom prst="roundRect">
            <a:avLst/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75564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5B2BE0"/>
                </a:solidFill>
                <a:latin typeface="Arial"/>
              </a:rPr>
              <a:t>86%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35915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des messages sont des retweets
(amplification, pas débat)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3154680"/>
            <a:ext cx="3291840" cy="1371600"/>
          </a:xfrm>
          <a:prstGeom prst="roundRect">
            <a:avLst/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326440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0662B"/>
                </a:solidFill>
                <a:latin typeface="Arial"/>
              </a:rPr>
              <a:t>7 303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86791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messages le 2026-03-27
(jour de pic)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4663440"/>
            <a:ext cx="3291840" cy="1371600"/>
          </a:xfrm>
          <a:prstGeom prst="roundRect">
            <a:avLst/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477316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BFA0"/>
                </a:solidFill>
                <a:latin typeface="Arial"/>
              </a:rPr>
              <a:t>671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537667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messages originaux seulement
(1,9 % du corpus)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NEXA · Datathon  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B2BE0"/>
                </a:solidFill>
                <a:latin typeface="Arial"/>
              </a:rPr>
              <a:t>ACTEURS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105C"/>
                </a:solidFill>
                <a:latin typeface="Arial"/>
              </a:rPr>
              <a:t>Deux couches : des sources amplifiées, une piétaille de relais</a:t>
            </a:r>
          </a:p>
        </p:txBody>
      </p:sp>
      <p:pic>
        <p:nvPicPr>
          <p:cNvPr id="4" name="Picture 3" descr="03_acteurs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13432"/>
            <a:ext cx="7863840" cy="314553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12480" y="1737360"/>
            <a:ext cx="3383280" cy="4206240"/>
          </a:xfrm>
          <a:prstGeom prst="roundRect">
            <a:avLst/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874519"/>
            <a:ext cx="30632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A105C"/>
                </a:solidFill>
                <a:latin typeface="Arial"/>
              </a:rPr>
              <a:t>Top comptes amplifiés (patient zéro / relais)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5B2BE0"/>
                </a:solidFill>
                <a:latin typeface="Arial"/>
              </a:rPr>
              <a:t>@SirAfuera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   1 852 reprises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5B2BE0"/>
                </a:solidFill>
                <a:latin typeface="Arial"/>
              </a:rPr>
              <a:t>@LeDindonFiscal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   1 544 reprises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5B2BE0"/>
                </a:solidFill>
                <a:latin typeface="Arial"/>
              </a:rPr>
              <a:t>@ojim_france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   1 254 reprises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5B2BE0"/>
                </a:solidFill>
                <a:latin typeface="Arial"/>
              </a:rPr>
              <a:t>@jon_delorraine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   1 083 reprises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5B2BE0"/>
                </a:solidFill>
                <a:latin typeface="Arial"/>
              </a:rPr>
              <a:t>@anatolium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   1 065 reprises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5B2BE0"/>
                </a:solidFill>
                <a:latin typeface="Arial"/>
              </a:rPr>
              <a:t>@charlesvillaa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   1 000 reprises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5B2BE0"/>
                </a:solidFill>
                <a:latin typeface="Arial"/>
              </a:rPr>
              <a:t>@SirenesFR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   856 reprises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5B2BE0"/>
                </a:solidFill>
                <a:latin typeface="Arial"/>
              </a:rPr>
              <a:t>@EugenieBastie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Arial"/>
              </a:rPr>
              <a:t>   791 reprises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NEXA · Datathon  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B2BE0"/>
                </a:solidFill>
                <a:latin typeface="Arial"/>
              </a:rPr>
              <a:t>NARRATIFS &amp; SÉMANTIQUE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105C"/>
                </a:solidFill>
                <a:latin typeface="Arial"/>
              </a:rPr>
              <a:t>Trois cadrages qui s'affrontent — un ton majoritairement négatif</a:t>
            </a:r>
          </a:p>
        </p:txBody>
      </p:sp>
      <p:pic>
        <p:nvPicPr>
          <p:cNvPr id="4" name="Picture 3" descr="07_narratifs_top_te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554480"/>
            <a:ext cx="4443984" cy="4937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0" y="1737360"/>
            <a:ext cx="6309360" cy="1051560"/>
          </a:xfrm>
          <a:prstGeom prst="roundRect">
            <a:avLst/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828800"/>
            <a:ext cx="5943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0662B"/>
                </a:solidFill>
                <a:latin typeface="Arial"/>
              </a:rPr>
              <a:t>L'argent public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cnc · fonds · subventions · millions · euros · aides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2926080"/>
            <a:ext cx="6309360" cy="1051560"/>
          </a:xfrm>
          <a:prstGeom prst="roundRect">
            <a:avLst/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3017520"/>
            <a:ext cx="5943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5B2BE0"/>
                </a:solidFill>
                <a:latin typeface="Arial"/>
              </a:rPr>
              <a:t>Les camps politiques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gauche · extrême · droite · français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4114800"/>
            <a:ext cx="6309360" cy="1051560"/>
          </a:xfrm>
          <a:prstGeom prst="roundRect">
            <a:avLst/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4206240"/>
            <a:ext cx="5943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BBFA0"/>
                </a:solidFill>
                <a:latin typeface="Arial"/>
              </a:rPr>
              <a:t>Qui finance-t-on ?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Arial"/>
              </a:rPr>
              <a:t>talent · streameuse · créateurs · cinéma · film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5303520"/>
            <a:ext cx="6309360" cy="1097280"/>
          </a:xfrm>
          <a:prstGeom prst="roundRect">
            <a:avLst/>
          </a:prstGeom>
          <a:solidFill>
            <a:srgbClr val="2A1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5413248"/>
            <a:ext cx="5943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Sentiment : 31% négatif · 66% neutre · 3% positif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BBFA0"/>
                </a:solidFill>
                <a:latin typeface="Arial"/>
              </a:rPr>
              <a:t>La négativité culmine avec le pic de volume.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NEXA · Datathon  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0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BBFA0"/>
                </a:solidFill>
                <a:latin typeface="Arial"/>
              </a:rPr>
              <a:t>COORDINATION &amp;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Signaux de coordination → un agent IA pour outiller la riposte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486400" cy="4206240"/>
          </a:xfrm>
          <a:prstGeom prst="roundRect">
            <a:avLst/>
          </a:prstGeom>
          <a:solidFill>
            <a:srgbClr val="5B2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50292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Ce que montre la coordination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Messages copiés-collés jusqu'à 654 fois à l'identique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Rafales synchronisées à la même minute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5 688 comptes ne postent qu'1 message (masse de relais)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• 9.1% de comptes certifiés seulement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303520" cy="4206240"/>
          </a:xfrm>
          <a:prstGeom prst="roundRect">
            <a:avLst/>
          </a:prstGeom>
          <a:solidFill>
            <a:srgbClr val="2B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011680"/>
            <a:ext cx="48463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A105C"/>
                </a:solidFill>
                <a:latin typeface="Arial"/>
              </a:rPr>
              <a:t>Prochaine étape : l'agent « Analyste »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A105C"/>
                </a:solidFill>
                <a:latin typeface="Arial"/>
              </a:rPr>
              <a:t>Modèle + outil d'accès au corpus + mémoire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A105C"/>
                </a:solidFill>
                <a:latin typeface="Arial"/>
              </a:rPr>
              <a:t>• Interroge le corpus (volume, comptes, narratifs)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A105C"/>
                </a:solidFill>
                <a:latin typeface="Arial"/>
              </a:rPr>
              <a:t>• Résume le narratif dominant d'un échantillon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A105C"/>
                </a:solidFill>
                <a:latin typeface="Arial"/>
              </a:rPr>
              <a:t>• Détecte les signaux de coordination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A105C"/>
                </a:solidFill>
                <a:latin typeface="Arial"/>
              </a:rPr>
              <a:t>Réutilisable pour d'autres crises informationnelles.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Arial"/>
              </a:rPr>
              <a:t>NEXA · Datathon  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